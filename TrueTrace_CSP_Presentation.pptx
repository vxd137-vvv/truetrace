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457200"/>
          </a:xfrm>
          <a:prstGeom prst="rect">
            <a:avLst/>
          </a:prstGeom>
          <a:noFill/>
        </p:spPr>
        <p:txBody>
          <a:bodyPr wrap="none">
            <a:spAutoFit/>
          </a:bodyPr>
          <a:lstStyle/>
          <a:p>
            <a:pPr>
              <a:defRPr sz="1100" b="1">
                <a:solidFill>
                  <a:srgbClr val="B91C1C"/>
                </a:solidFill>
              </a:defRPr>
            </a:pPr>
            <a:r>
              <a:t>13-08-2026  •  COMMUNITY SERVICE PROJECT  •  BRANCH: IT  •  DEPARTMENT: IECT</a:t>
            </a:r>
          </a:p>
        </p:txBody>
      </p:sp>
      <p:sp>
        <p:nvSpPr>
          <p:cNvPr id="4" name="TextBox 3"/>
          <p:cNvSpPr txBox="1"/>
          <p:nvPr/>
        </p:nvSpPr>
        <p:spPr>
          <a:xfrm>
            <a:off x="731520" y="960120"/>
            <a:ext cx="10728655" cy="1737360"/>
          </a:xfrm>
          <a:prstGeom prst="rect">
            <a:avLst/>
          </a:prstGeom>
          <a:noFill/>
        </p:spPr>
        <p:txBody>
          <a:bodyPr wrap="square">
            <a:spAutoFit/>
          </a:bodyPr>
          <a:lstStyle/>
          <a:p>
            <a:pPr>
              <a:defRPr sz="3600" b="1">
                <a:solidFill>
                  <a:srgbClr val="0B1220"/>
                </a:solidFill>
              </a:defRPr>
            </a:pPr>
            <a:r>
              <a:t>PROJECT NAME: TrueTrace</a:t>
            </a:r>
          </a:p>
          <a:p>
            <a:pPr>
              <a:defRPr sz="1700" b="1">
                <a:solidFill>
                  <a:srgbClr val="0E7490"/>
                </a:solidFill>
              </a:defRPr>
            </a:pPr>
            <a:r>
              <a:t>Decentralized Anti-Counterfeit and Supply Chain Provenance Platform Using Embedded SHA-256 Blockchain</a:t>
            </a:r>
          </a:p>
        </p:txBody>
      </p:sp>
      <p:graphicFrame>
        <p:nvGraphicFramePr>
          <p:cNvPr id="5" name="Table 4"/>
          <p:cNvGraphicFramePr>
            <a:graphicFrameLocks noGrp="1"/>
          </p:cNvGraphicFramePr>
          <p:nvPr/>
        </p:nvGraphicFramePr>
        <p:xfrm>
          <a:off x="731520" y="2926080"/>
          <a:ext cx="6217920" cy="2194560"/>
        </p:xfrm>
        <a:graphic>
          <a:graphicData uri="http://schemas.openxmlformats.org/drawingml/2006/table">
            <a:tbl>
              <a:tblPr firstRow="1" bandRow="1">
                <a:tableStyleId>{5C22544A-7EE6-4342-B048-85BDC9FD1C3A}</a:tableStyleId>
              </a:tblPr>
              <a:tblGrid>
                <a:gridCol w="914400"/>
                <a:gridCol w="2377440"/>
                <a:gridCol w="2926080"/>
              </a:tblGrid>
              <a:tr h="438912">
                <a:tc>
                  <a:txBody>
                    <a:bodyPr/>
                    <a:lstStyle/>
                    <a:p>
                      <a:pPr>
                        <a:defRPr sz="1200" b="1">
                          <a:solidFill>
                            <a:srgbClr val="FFFFFF"/>
                          </a:solidFill>
                        </a:defRPr>
                      </a:pPr>
                      <a:r>
                        <a:t>S. No</a:t>
                      </a:r>
                    </a:p>
                  </a:txBody>
                  <a:tcPr>
                    <a:solidFill>
                      <a:srgbClr val="B91C1C"/>
                    </a:solidFill>
                  </a:tcPr>
                </a:tc>
                <a:tc>
                  <a:txBody>
                    <a:bodyPr/>
                    <a:lstStyle/>
                    <a:p>
                      <a:pPr>
                        <a:defRPr sz="1200" b="1">
                          <a:solidFill>
                            <a:srgbClr val="FFFFFF"/>
                          </a:solidFill>
                        </a:defRPr>
                      </a:pPr>
                      <a:r>
                        <a:t>Register Number</a:t>
                      </a:r>
                    </a:p>
                  </a:txBody>
                  <a:tcPr>
                    <a:solidFill>
                      <a:srgbClr val="B91C1C"/>
                    </a:solidFill>
                  </a:tcPr>
                </a:tc>
                <a:tc>
                  <a:txBody>
                    <a:bodyPr/>
                    <a:lstStyle/>
                    <a:p>
                      <a:pPr>
                        <a:defRPr sz="1200" b="1">
                          <a:solidFill>
                            <a:srgbClr val="FFFFFF"/>
                          </a:solidFill>
                        </a:defRPr>
                      </a:pPr>
                      <a:r>
                        <a:t>Student Name</a:t>
                      </a:r>
                    </a:p>
                  </a:txBody>
                  <a:tcPr>
                    <a:solidFill>
                      <a:srgbClr val="B91C1C"/>
                    </a:solidFill>
                  </a:tcPr>
                </a:tc>
              </a:tr>
              <a:tr h="438912">
                <a:tc>
                  <a:txBody>
                    <a:bodyPr/>
                    <a:lstStyle/>
                    <a:p>
                      <a:pPr>
                        <a:defRPr sz="1100">
                          <a:solidFill>
                            <a:srgbClr val="1E293B"/>
                          </a:solidFill>
                        </a:defRPr>
                      </a:pPr>
                      <a:r>
                        <a:t>1.</a:t>
                      </a:r>
                    </a:p>
                  </a:txBody>
                  <a:tcPr/>
                </a:tc>
                <a:tc>
                  <a:txBody>
                    <a:bodyPr/>
                    <a:lstStyle/>
                    <a:p>
                      <a:pPr>
                        <a:defRPr sz="1100">
                          <a:solidFill>
                            <a:srgbClr val="1E293B"/>
                          </a:solidFill>
                        </a:defRPr>
                      </a:pPr>
                    </a:p>
                  </a:txBody>
                  <a:tcPr/>
                </a:tc>
                <a:tc>
                  <a:txBody>
                    <a:bodyPr/>
                    <a:lstStyle/>
                    <a:p>
                      <a:pPr>
                        <a:defRPr sz="1100">
                          <a:solidFill>
                            <a:srgbClr val="1E293B"/>
                          </a:solidFill>
                        </a:defRPr>
                      </a:pPr>
                    </a:p>
                  </a:txBody>
                  <a:tcPr/>
                </a:tc>
              </a:tr>
              <a:tr h="438912">
                <a:tc>
                  <a:txBody>
                    <a:bodyPr/>
                    <a:lstStyle/>
                    <a:p>
                      <a:pPr>
                        <a:defRPr sz="1100">
                          <a:solidFill>
                            <a:srgbClr val="1E293B"/>
                          </a:solidFill>
                        </a:defRPr>
                      </a:pPr>
                      <a:r>
                        <a:t>2.</a:t>
                      </a:r>
                    </a:p>
                  </a:txBody>
                  <a:tcPr/>
                </a:tc>
                <a:tc>
                  <a:txBody>
                    <a:bodyPr/>
                    <a:lstStyle/>
                    <a:p>
                      <a:pPr>
                        <a:defRPr sz="1100">
                          <a:solidFill>
                            <a:srgbClr val="1E293B"/>
                          </a:solidFill>
                        </a:defRPr>
                      </a:pPr>
                    </a:p>
                  </a:txBody>
                  <a:tcPr/>
                </a:tc>
                <a:tc>
                  <a:txBody>
                    <a:bodyPr/>
                    <a:lstStyle/>
                    <a:p>
                      <a:pPr>
                        <a:defRPr sz="1100">
                          <a:solidFill>
                            <a:srgbClr val="1E293B"/>
                          </a:solidFill>
                        </a:defRPr>
                      </a:pPr>
                    </a:p>
                  </a:txBody>
                  <a:tcPr/>
                </a:tc>
              </a:tr>
              <a:tr h="438912">
                <a:tc>
                  <a:txBody>
                    <a:bodyPr/>
                    <a:lstStyle/>
                    <a:p>
                      <a:pPr>
                        <a:defRPr sz="1100">
                          <a:solidFill>
                            <a:srgbClr val="1E293B"/>
                          </a:solidFill>
                        </a:defRPr>
                      </a:pPr>
                      <a:r>
                        <a:t>3.</a:t>
                      </a:r>
                    </a:p>
                  </a:txBody>
                  <a:tcPr/>
                </a:tc>
                <a:tc>
                  <a:txBody>
                    <a:bodyPr/>
                    <a:lstStyle/>
                    <a:p>
                      <a:pPr>
                        <a:defRPr sz="1100">
                          <a:solidFill>
                            <a:srgbClr val="1E293B"/>
                          </a:solidFill>
                        </a:defRPr>
                      </a:pPr>
                    </a:p>
                  </a:txBody>
                  <a:tcPr/>
                </a:tc>
                <a:tc>
                  <a:txBody>
                    <a:bodyPr/>
                    <a:lstStyle/>
                    <a:p>
                      <a:pPr>
                        <a:defRPr sz="1100">
                          <a:solidFill>
                            <a:srgbClr val="1E293B"/>
                          </a:solidFill>
                        </a:defRPr>
                      </a:pPr>
                    </a:p>
                  </a:txBody>
                  <a:tcPr/>
                </a:tc>
              </a:tr>
              <a:tr h="438912">
                <a:tc>
                  <a:txBody>
                    <a:bodyPr/>
                    <a:lstStyle/>
                    <a:p>
                      <a:pPr>
                        <a:defRPr sz="1100">
                          <a:solidFill>
                            <a:srgbClr val="1E293B"/>
                          </a:solidFill>
                        </a:defRPr>
                      </a:pPr>
                      <a:r>
                        <a:t>4.</a:t>
                      </a:r>
                    </a:p>
                  </a:txBody>
                  <a:tcPr/>
                </a:tc>
                <a:tc>
                  <a:txBody>
                    <a:bodyPr/>
                    <a:lstStyle/>
                    <a:p>
                      <a:pPr>
                        <a:defRPr sz="1100">
                          <a:solidFill>
                            <a:srgbClr val="1E293B"/>
                          </a:solidFill>
                        </a:defRPr>
                      </a:pPr>
                    </a:p>
                  </a:txBody>
                  <a:tcPr/>
                </a:tc>
                <a:tc>
                  <a:txBody>
                    <a:bodyPr/>
                    <a:lstStyle/>
                    <a:p>
                      <a:pPr>
                        <a:defRPr sz="1100">
                          <a:solidFill>
                            <a:srgbClr val="1E293B"/>
                          </a:solidFill>
                        </a:defRPr>
                      </a:pPr>
                    </a:p>
                  </a:txBody>
                  <a:tcPr/>
                </a:tc>
              </a:tr>
            </a:tbl>
          </a:graphicData>
        </a:graphic>
      </p:graphicFrame>
      <p:sp>
        <p:nvSpPr>
          <p:cNvPr id="6" name="Rounded Rectangle 5"/>
          <p:cNvSpPr/>
          <p:nvPr/>
        </p:nvSpPr>
        <p:spPr>
          <a:xfrm>
            <a:off x="7315200" y="2926080"/>
            <a:ext cx="4114800" cy="31089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100">
                <a:solidFill>
                  <a:srgbClr val="475569"/>
                </a:solidFill>
              </a:defRPr>
            </a:pPr>
            <a:r>
              <a:t>Guide Name:</a:t>
            </a:r>
          </a:p>
          <a:p>
            <a:pPr>
              <a:defRPr sz="1600" b="1">
                <a:solidFill>
                  <a:srgbClr val="0B1220"/>
                </a:solidFill>
              </a:defRPr>
            </a:pPr>
            <a:r>
              <a:t>Dr. Anjana Devi Bondalapati</a:t>
            </a:r>
          </a:p>
          <a:p>
            <a:pPr>
              <a:defRPr sz="1150">
                <a:solidFill>
                  <a:srgbClr val="1E293B"/>
                </a:solidFill>
              </a:defRPr>
            </a:pPr>
            <a:r>
              <a:t>Assoc. professor, Dept. of IE&amp;CT</a:t>
            </a:r>
            <a:br/>
            <a:r>
              <a:t>MVGR College of Engineering (A), Vizianagaram</a:t>
            </a:r>
          </a:p>
          <a:p>
            <a:br/>
            <a:pPr>
              <a:defRPr sz="1100" b="1">
                <a:solidFill>
                  <a:srgbClr val="B91C1C"/>
                </a:solidFill>
              </a:defRPr>
            </a:pPr>
            <a:r>
              <a:t>Head of the Department:</a:t>
            </a:r>
            <a:br/>
            <a:r>
              <a:t>Department of Information Engineering and Computational Technology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1000" b="1">
                <a:solidFill>
                  <a:srgbClr val="B91C1C"/>
                </a:solidFill>
              </a:defRPr>
            </a:pPr>
            <a:r>
              <a:t>COMMUNITY SERVICE PROJECT • BRANCH: IT • DEPT: IE&amp;CT • 13-08-2026</a:t>
            </a:r>
          </a:p>
          <a:p>
            <a:pPr>
              <a:defRPr sz="2500" b="1">
                <a:solidFill>
                  <a:srgbClr val="0B1220"/>
                </a:solidFill>
              </a:defRPr>
            </a:pPr>
            <a:r>
              <a:t>Abstract (Part 1: Context &amp; Architecture)</a:t>
            </a:r>
          </a:p>
        </p:txBody>
      </p:sp>
      <p:sp>
        <p:nvSpPr>
          <p:cNvPr id="4" name="Rectangle 3"/>
          <p:cNvSpPr/>
          <p:nvPr/>
        </p:nvSpPr>
        <p:spPr>
          <a:xfrm>
            <a:off x="731520" y="1298448"/>
            <a:ext cx="10728655"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10728655" cy="22402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100" b="1">
                <a:solidFill>
                  <a:srgbClr val="B91C1C"/>
                </a:solidFill>
              </a:defRPr>
            </a:pPr>
            <a:r>
              <a:t>INDUSTRIAL THREAT LANDSCAPE &amp; BARCODE ZERO-ENTROPY PROBLEM</a:t>
            </a:r>
          </a:p>
          <a:p>
            <a:pPr>
              <a:defRPr sz="1200">
                <a:solidFill>
                  <a:srgbClr val="1E293B"/>
                </a:solidFill>
              </a:defRPr>
            </a:pPr>
            <a:r>
              <a:t>The proliferation of counterfeit physical assets represents a critical economic and public safety hazard exceeding $4.5 Trillion globally, with devastating consequences in pharmaceuticals, aerospace, and consumer electronics. Conventional anti-counterfeit measures rely on printed serial numbers and static 2D QR codes. These mechanisms fail fundamentally because they possess zero cryptographic entropy: a static barcode is merely a plain-text pointer that can be effortlessly duplicated or photocopied by illicit actors onto counterfeit items without invalidating the original source URL.</a:t>
            </a:r>
          </a:p>
        </p:txBody>
      </p:sp>
      <p:sp>
        <p:nvSpPr>
          <p:cNvPr id="6" name="Rounded Rectangle 5"/>
          <p:cNvSpPr/>
          <p:nvPr/>
        </p:nvSpPr>
        <p:spPr>
          <a:xfrm>
            <a:off x="731520" y="3977639"/>
            <a:ext cx="10728655" cy="2331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100" b="1">
                <a:solidFill>
                  <a:srgbClr val="0E7490"/>
                </a:solidFill>
              </a:defRPr>
            </a:pPr>
            <a:r>
              <a:t>PROPOSED METHODOLOGY: DIGITAL PRODUCT PASSPORTS &amp; SHA-256 CONSENSUS</a:t>
            </a:r>
          </a:p>
          <a:p>
            <a:pPr>
              <a:defRPr sz="1200">
                <a:solidFill>
                  <a:srgbClr val="1E293B"/>
                </a:solidFill>
              </a:defRPr>
            </a:pPr>
            <a:r>
              <a:t>To resolve these systemic vulnerabilities, TrueTrace introduces an end-to-end decentralized verification framework that replaces static barcodes with Cryptographic Digital Product Passports (DPPs) anchored to an embedded SHA-256 Proof-of-Work Blockchain ledger. Built using Next.js 14, React 18, TypeScript, and Node.js REST APIs, TrueTrace binds physical assets to mathematically chained blocks. When a product is registered by an authorized brand, a Genesis block transaction is mined into the ledger, ensuring that every milestone in the supply chain is immutably timestamped and cryptographically non-repudiable.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1000" b="1">
                <a:solidFill>
                  <a:srgbClr val="B91C1C"/>
                </a:solidFill>
              </a:defRPr>
            </a:pPr>
            <a:r>
              <a:t>COMMUNITY SERVICE PROJECT • BRANCH: IT • DEPT: IE&amp;CT • 13-08-2026</a:t>
            </a:r>
          </a:p>
          <a:p>
            <a:pPr>
              <a:defRPr sz="2500" b="1">
                <a:solidFill>
                  <a:srgbClr val="0B1220"/>
                </a:solidFill>
              </a:defRPr>
            </a:pPr>
            <a:r>
              <a:t>Abstract (Part 2: Distributed Verification &amp; Results)</a:t>
            </a:r>
          </a:p>
        </p:txBody>
      </p:sp>
      <p:sp>
        <p:nvSpPr>
          <p:cNvPr id="4" name="Rectangle 3"/>
          <p:cNvSpPr/>
          <p:nvPr/>
        </p:nvSpPr>
        <p:spPr>
          <a:xfrm>
            <a:off x="731520" y="1298448"/>
            <a:ext cx="10728655"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10728655" cy="22402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100" b="1">
                <a:solidFill>
                  <a:srgbClr val="B91C1C"/>
                </a:solidFill>
              </a:defRPr>
            </a:pPr>
            <a:r>
              <a:t>DISTRIBUTED CLIENT-SERVER TOPOLOGY &amp; MULTI-DEVICE OPERATION</a:t>
            </a:r>
          </a:p>
          <a:p>
            <a:pPr>
              <a:defRPr sz="1200">
                <a:solidFill>
                  <a:srgbClr val="1E293B"/>
                </a:solidFill>
              </a:defRPr>
            </a:pPr>
            <a:r>
              <a:t>TrueTrace is architected on a true multi-system client-server paradigm. The host server binds to 0.0.0.0, enabling external client systems—such as mobile smartphones and retail POS terminals on the local network—to communicate directly with the blockchain authority. Consumers scan the physical micro-seal using our Dual-Mode Verification Console (featuring live optical camera simulation and drag-and-drop QR file decoding). The backend verifies the cryptographic signature against the blockchain ledger, updates the single-state custody token, and immediately mines an audit block recording the verification timestamp and location.</a:t>
            </a:r>
          </a:p>
        </p:txBody>
      </p:sp>
      <p:sp>
        <p:nvSpPr>
          <p:cNvPr id="6" name="Rounded Rectangle 5"/>
          <p:cNvSpPr/>
          <p:nvPr/>
        </p:nvSpPr>
        <p:spPr>
          <a:xfrm>
            <a:off x="731520" y="3977639"/>
            <a:ext cx="10728655" cy="23317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100" b="1">
                <a:solidFill>
                  <a:srgbClr val="0E7490"/>
                </a:solidFill>
              </a:defRPr>
            </a:pPr>
            <a:r>
              <a:t>EMPIRICAL PERFORMANCE, TAMPER DETECTION &amp; ZERO EXTERNAL OVERHEAD</a:t>
            </a:r>
          </a:p>
          <a:p>
            <a:pPr>
              <a:defRPr sz="1200">
                <a:solidFill>
                  <a:srgbClr val="1E293B"/>
                </a:solidFill>
              </a:defRPr>
            </a:pPr>
            <a:r>
              <a:t>The system achieves deterministic sub-second authentication latency while operating completely offline from costly Layer-1 public networks. Crucially, the platform features an interactive Blockchain Explorer demonstrating real-time tamper resilience: any unauthorized database injection immediately breaks the mathematical SHA-256 hash continuity across subsequent blocks (O(n) verification complexity), alerting evaluators instantly. Combining supply chain telemetry across 142 worldwide hubs with AI-driven travel velocity anomaly scoring, TrueTrace proves that modern decentralized architectures can eliminate counterfeiting with zero recurring gas fees.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1000" b="1">
                <a:solidFill>
                  <a:srgbClr val="B91C1C"/>
                </a:solidFill>
              </a:defRPr>
            </a:pPr>
            <a:r>
              <a:t>COMMUNITY SERVICE PROJECT • BRANCH: IT • DEPT: IE&amp;CT • 13-08-2026</a:t>
            </a:r>
          </a:p>
          <a:p>
            <a:pPr>
              <a:defRPr sz="2500" b="1">
                <a:solidFill>
                  <a:srgbClr val="0B1220"/>
                </a:solidFill>
              </a:defRPr>
            </a:pPr>
            <a:r>
              <a:t>Problem Statement</a:t>
            </a:r>
          </a:p>
        </p:txBody>
      </p:sp>
      <p:sp>
        <p:nvSpPr>
          <p:cNvPr id="4" name="Rectangle 3"/>
          <p:cNvSpPr/>
          <p:nvPr/>
        </p:nvSpPr>
        <p:spPr>
          <a:xfrm>
            <a:off x="731520" y="1298448"/>
            <a:ext cx="10728655"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212080" cy="228600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300" b="1">
                <a:solidFill>
                  <a:srgbClr val="B91C1C"/>
                </a:solidFill>
              </a:defRPr>
            </a:pPr>
            <a:r>
              <a:t>01. Static Barcode Zero-Entropy Flaw</a:t>
            </a:r>
          </a:p>
          <a:p>
            <a:pPr>
              <a:defRPr sz="1150">
                <a:solidFill>
                  <a:srgbClr val="1E293B"/>
                </a:solidFill>
              </a:defRPr>
            </a:pPr>
            <a:r>
              <a:t>Traditional 2D QR codes and barcodes encode static text strings without cryptographic signing. A single authentic barcode can be replicated onto thousands of counterfeit products using basic photocopiers, misleading consumers without detection.</a:t>
            </a:r>
          </a:p>
        </p:txBody>
      </p:sp>
      <p:sp>
        <p:nvSpPr>
          <p:cNvPr id="6" name="Rounded Rectangle 5"/>
          <p:cNvSpPr/>
          <p:nvPr/>
        </p:nvSpPr>
        <p:spPr>
          <a:xfrm>
            <a:off x="6217920" y="1554480"/>
            <a:ext cx="5212080" cy="228600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300" b="1">
                <a:solidFill>
                  <a:srgbClr val="B91C1C"/>
                </a:solidFill>
              </a:defRPr>
            </a:pPr>
            <a:r>
              <a:t>02. Centralized Database Vulnerability</a:t>
            </a:r>
          </a:p>
          <a:p>
            <a:pPr>
              <a:defRPr sz="1150">
                <a:solidFill>
                  <a:srgbClr val="1E293B"/>
                </a:solidFill>
              </a:defRPr>
            </a:pPr>
            <a:r>
              <a:t>Conventional ERP and inventory systems store records in centralized SQL or NoSQL databases. This creates a critical single point of failure where insider access or database breaches allow untracked manipulation of batch numbers and serials.</a:t>
            </a:r>
          </a:p>
        </p:txBody>
      </p:sp>
      <p:sp>
        <p:nvSpPr>
          <p:cNvPr id="7" name="Rounded Rectangle 6"/>
          <p:cNvSpPr/>
          <p:nvPr/>
        </p:nvSpPr>
        <p:spPr>
          <a:xfrm>
            <a:off x="731520" y="4023360"/>
            <a:ext cx="5212080" cy="228600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300" b="1">
                <a:solidFill>
                  <a:srgbClr val="B91C1C"/>
                </a:solidFill>
              </a:defRPr>
            </a:pPr>
            <a:r>
              <a:t>03. Opaque Chain-of-Custody Routing</a:t>
            </a:r>
          </a:p>
          <a:p>
            <a:pPr>
              <a:defRPr sz="1150">
                <a:solidFill>
                  <a:srgbClr val="1E293B"/>
                </a:solidFill>
              </a:defRPr>
            </a:pPr>
            <a:r>
              <a:t>Global supply chains transition through fragmented third-party freight handlers. The absence of automated multi-party cryptographic handshakes allows unauthorized parallel diversion and black-market infiltration without triggering alerts.</a:t>
            </a:r>
          </a:p>
        </p:txBody>
      </p:sp>
      <p:sp>
        <p:nvSpPr>
          <p:cNvPr id="8" name="Rounded Rectangle 7"/>
          <p:cNvSpPr/>
          <p:nvPr/>
        </p:nvSpPr>
        <p:spPr>
          <a:xfrm>
            <a:off x="6217920" y="4023360"/>
            <a:ext cx="5212080" cy="228600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300" b="1">
                <a:solidFill>
                  <a:srgbClr val="B91C1C"/>
                </a:solidFill>
              </a:defRPr>
            </a:pPr>
            <a:r>
              <a:t>04. Public Blockchain Latency &amp; Gas Barriers</a:t>
            </a:r>
          </a:p>
          <a:p>
            <a:pPr>
              <a:defRPr sz="1150">
                <a:solidFill>
                  <a:srgbClr val="1E293B"/>
                </a:solidFill>
              </a:defRPr>
            </a:pPr>
            <a:r>
              <a:t>Deploying consumer anti-counterfeiting on public networks like Ethereum introduces unpredictable gas fees ($2–$30/scan) and 15-second block confirmation delays, making public chains completely unviable for high-speed retail checkout scanning.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1000" b="1">
                <a:solidFill>
                  <a:srgbClr val="B91C1C"/>
                </a:solidFill>
              </a:defRPr>
            </a:pPr>
            <a:r>
              <a:t>COMMUNITY SERVICE PROJECT • BRANCH: IT • DEPT: IE&amp;CT • 13-08-2026</a:t>
            </a:r>
          </a:p>
          <a:p>
            <a:pPr>
              <a:defRPr sz="2500" b="1">
                <a:solidFill>
                  <a:srgbClr val="0B1220"/>
                </a:solidFill>
              </a:defRPr>
            </a:pPr>
            <a:r>
              <a:t>Existing and Proposed System.</a:t>
            </a:r>
          </a:p>
        </p:txBody>
      </p:sp>
      <p:sp>
        <p:nvSpPr>
          <p:cNvPr id="4" name="Rectangle 3"/>
          <p:cNvSpPr/>
          <p:nvPr/>
        </p:nvSpPr>
        <p:spPr>
          <a:xfrm>
            <a:off x="731520" y="1298448"/>
            <a:ext cx="10728655"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554480"/>
          <a:ext cx="10728655" cy="4572000"/>
        </p:xfrm>
        <a:graphic>
          <a:graphicData uri="http://schemas.openxmlformats.org/drawingml/2006/table">
            <a:tbl>
              <a:tblPr firstRow="1" bandRow="1">
                <a:tableStyleId>{5C22544A-7EE6-4342-B048-85BDC9FD1C3A}</a:tableStyleId>
              </a:tblPr>
              <a:tblGrid>
                <a:gridCol w="2468880"/>
                <a:gridCol w="4114800"/>
                <a:gridCol w="4144975"/>
              </a:tblGrid>
              <a:tr h="653142">
                <a:tc>
                  <a:txBody>
                    <a:bodyPr/>
                    <a:lstStyle/>
                    <a:p>
                      <a:pPr>
                        <a:defRPr sz="1200" b="1">
                          <a:solidFill>
                            <a:srgbClr val="FFFFFF"/>
                          </a:solidFill>
                        </a:defRPr>
                      </a:pPr>
                      <a:r>
                        <a:t>Technical Dimension</a:t>
                      </a:r>
                    </a:p>
                  </a:txBody>
                  <a:tcPr>
                    <a:solidFill>
                      <a:srgbClr val="B91C1C"/>
                    </a:solidFill>
                  </a:tcPr>
                </a:tc>
                <a:tc>
                  <a:txBody>
                    <a:bodyPr/>
                    <a:lstStyle/>
                    <a:p>
                      <a:pPr>
                        <a:defRPr sz="1200" b="1">
                          <a:solidFill>
                            <a:srgbClr val="FFFFFF"/>
                          </a:solidFill>
                        </a:defRPr>
                      </a:pPr>
                      <a:r>
                        <a:t>Conventional Existing System</a:t>
                      </a:r>
                    </a:p>
                  </a:txBody>
                  <a:tcPr>
                    <a:solidFill>
                      <a:srgbClr val="B91C1C"/>
                    </a:solidFill>
                  </a:tcPr>
                </a:tc>
                <a:tc>
                  <a:txBody>
                    <a:bodyPr/>
                    <a:lstStyle/>
                    <a:p>
                      <a:pPr>
                        <a:defRPr sz="1200" b="1">
                          <a:solidFill>
                            <a:srgbClr val="FFFFFF"/>
                          </a:solidFill>
                        </a:defRPr>
                      </a:pPr>
                      <a:r>
                        <a:t>TrueTrace Proposed Architecture</a:t>
                      </a:r>
                    </a:p>
                  </a:txBody>
                  <a:tcPr>
                    <a:solidFill>
                      <a:srgbClr val="B91C1C"/>
                    </a:solidFill>
                  </a:tcPr>
                </a:tc>
              </a:tr>
              <a:tr h="653142">
                <a:tc>
                  <a:txBody>
                    <a:bodyPr/>
                    <a:lstStyle/>
                    <a:p>
                      <a:pPr>
                        <a:defRPr sz="1050" b="1">
                          <a:solidFill>
                            <a:srgbClr val="1E293B"/>
                          </a:solidFill>
                        </a:defRPr>
                      </a:pPr>
                      <a:r>
                        <a:t>Authentication Primitive</a:t>
                      </a:r>
                    </a:p>
                  </a:txBody>
                  <a:tcPr/>
                </a:tc>
                <a:tc>
                  <a:txBody>
                    <a:bodyPr/>
                    <a:lstStyle/>
                    <a:p>
                      <a:pPr>
                        <a:defRPr sz="1050">
                          <a:solidFill>
                            <a:srgbClr val="1E293B"/>
                          </a:solidFill>
                        </a:defRPr>
                      </a:pPr>
                      <a:r>
                        <a:t>Static alphanumeric serial or 2D barcode URL string</a:t>
                      </a:r>
                    </a:p>
                  </a:txBody>
                  <a:tcPr/>
                </a:tc>
                <a:tc>
                  <a:txBody>
                    <a:bodyPr/>
                    <a:lstStyle/>
                    <a:p>
                      <a:pPr>
                        <a:defRPr sz="1050">
                          <a:solidFill>
                            <a:srgbClr val="1E293B"/>
                          </a:solidFill>
                        </a:defRPr>
                      </a:pPr>
                      <a:r>
                        <a:t>Cryptographic Digital Product Passport with SHA-256 seal</a:t>
                      </a:r>
                    </a:p>
                  </a:txBody>
                  <a:tcPr/>
                </a:tc>
              </a:tr>
              <a:tr h="653142">
                <a:tc>
                  <a:txBody>
                    <a:bodyPr/>
                    <a:lstStyle/>
                    <a:p>
                      <a:pPr>
                        <a:defRPr sz="1050" b="1">
                          <a:solidFill>
                            <a:srgbClr val="1E293B"/>
                          </a:solidFill>
                        </a:defRPr>
                      </a:pPr>
                      <a:r>
                        <a:t>Ledger Governance</a:t>
                      </a:r>
                    </a:p>
                  </a:txBody>
                  <a:tcPr/>
                </a:tc>
                <a:tc>
                  <a:txBody>
                    <a:bodyPr/>
                    <a:lstStyle/>
                    <a:p>
                      <a:pPr>
                        <a:defRPr sz="1050">
                          <a:solidFill>
                            <a:srgbClr val="1E293B"/>
                          </a:solidFill>
                        </a:defRPr>
                      </a:pPr>
                      <a:r>
                        <a:t>Centralized SQL server (Single Point of Vulnerability)</a:t>
                      </a:r>
                    </a:p>
                  </a:txBody>
                  <a:tcPr/>
                </a:tc>
                <a:tc>
                  <a:txBody>
                    <a:bodyPr/>
                    <a:lstStyle/>
                    <a:p>
                      <a:pPr>
                        <a:defRPr sz="1050">
                          <a:solidFill>
                            <a:srgbClr val="1E293B"/>
                          </a:solidFill>
                        </a:defRPr>
                      </a:pPr>
                      <a:r>
                        <a:t>Decentralized Proof-of-Work Blockchain Ledger</a:t>
                      </a:r>
                    </a:p>
                  </a:txBody>
                  <a:tcPr/>
                </a:tc>
              </a:tr>
              <a:tr h="653142">
                <a:tc>
                  <a:txBody>
                    <a:bodyPr/>
                    <a:lstStyle/>
                    <a:p>
                      <a:pPr>
                        <a:defRPr sz="1050" b="1">
                          <a:solidFill>
                            <a:srgbClr val="1E293B"/>
                          </a:solidFill>
                        </a:defRPr>
                      </a:pPr>
                      <a:r>
                        <a:t>Tamper Detection Speed</a:t>
                      </a:r>
                    </a:p>
                  </a:txBody>
                  <a:tcPr/>
                </a:tc>
                <a:tc>
                  <a:txBody>
                    <a:bodyPr/>
                    <a:lstStyle/>
                    <a:p>
                      <a:pPr>
                        <a:defRPr sz="1050">
                          <a:solidFill>
                            <a:srgbClr val="1E293B"/>
                          </a:solidFill>
                        </a:defRPr>
                      </a:pPr>
                      <a:r>
                        <a:t>Undetected; logs can be wiped or retroactively updated</a:t>
                      </a:r>
                    </a:p>
                  </a:txBody>
                  <a:tcPr/>
                </a:tc>
                <a:tc>
                  <a:txBody>
                    <a:bodyPr/>
                    <a:lstStyle/>
                    <a:p>
                      <a:pPr>
                        <a:defRPr sz="1050">
                          <a:solidFill>
                            <a:srgbClr val="1E293B"/>
                          </a:solidFill>
                        </a:defRPr>
                      </a:pPr>
                      <a:r>
                        <a:t>Instant mathematical hash breakage across chain (O(n))</a:t>
                      </a:r>
                    </a:p>
                  </a:txBody>
                  <a:tcPr/>
                </a:tc>
              </a:tr>
              <a:tr h="653142">
                <a:tc>
                  <a:txBody>
                    <a:bodyPr/>
                    <a:lstStyle/>
                    <a:p>
                      <a:pPr>
                        <a:defRPr sz="1050" b="1">
                          <a:solidFill>
                            <a:srgbClr val="1E293B"/>
                          </a:solidFill>
                        </a:defRPr>
                      </a:pPr>
                      <a:r>
                        <a:t>Anti-Cloning Mechanism</a:t>
                      </a:r>
                    </a:p>
                  </a:txBody>
                  <a:tcPr/>
                </a:tc>
                <a:tc>
                  <a:txBody>
                    <a:bodyPr/>
                    <a:lstStyle/>
                    <a:p>
                      <a:pPr>
                        <a:defRPr sz="1050">
                          <a:solidFill>
                            <a:srgbClr val="1E293B"/>
                          </a:solidFill>
                        </a:defRPr>
                      </a:pPr>
                      <a:r>
                        <a:t>None; identical copies authenticate simultaneously</a:t>
                      </a:r>
                    </a:p>
                  </a:txBody>
                  <a:tcPr/>
                </a:tc>
                <a:tc>
                  <a:txBody>
                    <a:bodyPr/>
                    <a:lstStyle/>
                    <a:p>
                      <a:pPr>
                        <a:defRPr sz="1050">
                          <a:solidFill>
                            <a:srgbClr val="1E293B"/>
                          </a:solidFill>
                        </a:defRPr>
                      </a:pPr>
                      <a:r>
                        <a:t>Single-state token ownership + Impossible Velocity alerts</a:t>
                      </a:r>
                    </a:p>
                  </a:txBody>
                  <a:tcPr/>
                </a:tc>
              </a:tr>
              <a:tr h="653142">
                <a:tc>
                  <a:txBody>
                    <a:bodyPr/>
                    <a:lstStyle/>
                    <a:p>
                      <a:pPr>
                        <a:defRPr sz="1050" b="1">
                          <a:solidFill>
                            <a:srgbClr val="1E293B"/>
                          </a:solidFill>
                        </a:defRPr>
                      </a:pPr>
                      <a:r>
                        <a:t>Custody Verification</a:t>
                      </a:r>
                    </a:p>
                  </a:txBody>
                  <a:tcPr/>
                </a:tc>
                <a:tc>
                  <a:txBody>
                    <a:bodyPr/>
                    <a:lstStyle/>
                    <a:p>
                      <a:pPr>
                        <a:defRPr sz="1050">
                          <a:solidFill>
                            <a:srgbClr val="1E293B"/>
                          </a:solidFill>
                        </a:defRPr>
                      </a:pPr>
                      <a:r>
                        <a:t>Manual paper waybills &amp; siloed carrier ERPs</a:t>
                      </a:r>
                    </a:p>
                  </a:txBody>
                  <a:tcPr/>
                </a:tc>
                <a:tc>
                  <a:txBody>
                    <a:bodyPr/>
                    <a:lstStyle/>
                    <a:p>
                      <a:pPr>
                        <a:defRPr sz="1050">
                          <a:solidFill>
                            <a:srgbClr val="1E293B"/>
                          </a:solidFill>
                        </a:defRPr>
                      </a:pPr>
                      <a:r>
                        <a:t>Multi-party cryptographic handshakes across 142 nodes</a:t>
                      </a:r>
                    </a:p>
                  </a:txBody>
                  <a:tcPr/>
                </a:tc>
              </a:tr>
              <a:tr h="653148">
                <a:tc>
                  <a:txBody>
                    <a:bodyPr/>
                    <a:lstStyle/>
                    <a:p>
                      <a:pPr>
                        <a:defRPr sz="1050" b="1">
                          <a:solidFill>
                            <a:srgbClr val="1E293B"/>
                          </a:solidFill>
                        </a:defRPr>
                      </a:pPr>
                      <a:r>
                        <a:t>Client-Server Model</a:t>
                      </a:r>
                    </a:p>
                  </a:txBody>
                  <a:tcPr/>
                </a:tc>
                <a:tc>
                  <a:txBody>
                    <a:bodyPr/>
                    <a:lstStyle/>
                    <a:p>
                      <a:pPr>
                        <a:defRPr sz="1050">
                          <a:solidFill>
                            <a:srgbClr val="1E293B"/>
                          </a:solidFill>
                        </a:defRPr>
                      </a:pPr>
                      <a:r>
                        <a:t>Monolithic internal client workstation</a:t>
                      </a:r>
                    </a:p>
                  </a:txBody>
                  <a:tcPr/>
                </a:tc>
                <a:tc>
                  <a:txBody>
                    <a:bodyPr/>
                    <a:lstStyle/>
                    <a:p>
                      <a:pPr>
                        <a:defRPr sz="1050">
                          <a:solidFill>
                            <a:srgbClr val="1E293B"/>
                          </a:solidFill>
                        </a:defRPr>
                      </a:pPr>
                      <a:r>
                        <a:t>Distributed P2P topology (Host Authority + Mobile Terminals)</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1000" b="1">
                <a:solidFill>
                  <a:srgbClr val="B91C1C"/>
                </a:solidFill>
              </a:defRPr>
            </a:pPr>
            <a:r>
              <a:t>COMMUNITY SERVICE PROJECT • BRANCH: IT • DEPT: IE&amp;CT • 13-08-2026</a:t>
            </a:r>
          </a:p>
          <a:p>
            <a:pPr>
              <a:defRPr sz="2500" b="1">
                <a:solidFill>
                  <a:srgbClr val="0B1220"/>
                </a:solidFill>
              </a:defRPr>
            </a:pPr>
            <a:r>
              <a:t>Hardware and Software Requirements</a:t>
            </a:r>
          </a:p>
        </p:txBody>
      </p:sp>
      <p:sp>
        <p:nvSpPr>
          <p:cNvPr id="4" name="Rectangle 3"/>
          <p:cNvSpPr/>
          <p:nvPr/>
        </p:nvSpPr>
        <p:spPr>
          <a:xfrm>
            <a:off x="731520" y="1298448"/>
            <a:ext cx="10728655"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212080" cy="46634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200" b="1">
                <a:solidFill>
                  <a:srgbClr val="B91C1C"/>
                </a:solidFill>
              </a:defRPr>
            </a:pPr>
            <a:r>
              <a:t>HARDWARE ENGINEERING SPECIFICATIONS</a:t>
            </a:r>
          </a:p>
          <a:p>
            <a:pPr>
              <a:defRPr sz="1100">
                <a:solidFill>
                  <a:srgbClr val="1E293B"/>
                </a:solidFill>
              </a:defRPr>
            </a:pPr>
            <a:r>
              <a:t>• Host Processing Unit (CPU): Intel Core i5/i7 (8th Gen+) or AMD Ryzen 5 (2.0 GHz+ dual/quad-core) to execute high-speed multi-threaded SHA-256 block mining.</a:t>
            </a:r>
            <a:br/>
            <a:br/>
            <a:r>
              <a:t>• System Memory (RAM): 16 GB DDR4/DDR5 recommended (8 GB Minimum) to maintain active Next.js Server Components, in-memory consensus state, and Turbopack cache.</a:t>
            </a:r>
            <a:br/>
            <a:br/>
            <a:r>
              <a:t>• Persistent Storage: 512 GB NVMe M.2 Solid State Drive ensuring sub-millisecond atomic read/write cycles for the serialized JSON blockchain database.</a:t>
            </a:r>
            <a:br/>
            <a:br/>
            <a:r>
              <a:t>• Optical Scanning Sensor: 1080p Web Camera or Smartphone Camera for high-resolution video stream capture in optical QR viewfinder decoding.</a:t>
            </a:r>
            <a:br/>
            <a:br/>
            <a:r>
              <a:t>• Network Interface: Gigabit Ethernet + Dual-Band Wi-Fi adapter enabling multi-device LAN socket listening on 0.0.0.0:3000.</a:t>
            </a:r>
          </a:p>
        </p:txBody>
      </p:sp>
      <p:sp>
        <p:nvSpPr>
          <p:cNvPr id="6" name="Rounded Rectangle 5"/>
          <p:cNvSpPr/>
          <p:nvPr/>
        </p:nvSpPr>
        <p:spPr>
          <a:xfrm>
            <a:off x="6217920" y="1554480"/>
            <a:ext cx="5212080" cy="46634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200" b="1">
                <a:solidFill>
                  <a:srgbClr val="0E7490"/>
                </a:solidFill>
              </a:defRPr>
            </a:pPr>
            <a:r>
              <a:t>SOFTWARE FRAMEWORK &amp; STACK ARCHITECTURE</a:t>
            </a:r>
          </a:p>
          <a:p>
            <a:pPr>
              <a:defRPr sz="1100">
                <a:solidFill>
                  <a:srgbClr val="1E293B"/>
                </a:solidFill>
              </a:defRPr>
            </a:pPr>
            <a:r>
              <a:t>• Operating Environment: Microsoft Windows 11 (64-bit) / Ubuntu Linux 22.04 LTS host platform.</a:t>
            </a:r>
            <a:br/>
            <a:br/>
            <a:r>
              <a:t>• Frontend Architecture: Next.js 14.2.15 App Router, React 18.3.1, and TypeScript 5.6 for strict type safety and component hydration.</a:t>
            </a:r>
            <a:br/>
            <a:br/>
            <a:r>
              <a:t>• Design System: Tailwind CSS 3.4 implementing Dark Midnight Navy glassmorphism (#0B1220) with Lucide Icons.</a:t>
            </a:r>
            <a:br/>
            <a:br/>
            <a:r>
              <a:t>• Backend &amp; API Routes: Node.js v20.x runtime managing serverless endpoints (/api/products, /api/verify, /api/blockchain).</a:t>
            </a:r>
            <a:br/>
            <a:br/>
            <a:r>
              <a:t>• Cryptographic Engine: Native Node.js Crypto module executing SHA-256 block hashing, Merkle root trees, and PoW nonce computation.</a:t>
            </a:r>
            <a:br/>
            <a:br/>
            <a:r>
              <a:t>• Database Storage: Atomic server-side JSON storage (truetrace_db.json) with write-through filesystem persistence.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1000" b="1">
                <a:solidFill>
                  <a:srgbClr val="B91C1C"/>
                </a:solidFill>
              </a:defRPr>
            </a:pPr>
            <a:r>
              <a:t>COMMUNITY SERVICE PROJECT • BRANCH: IT • DEPT: IE&amp;CT • 13-08-2026</a:t>
            </a:r>
          </a:p>
          <a:p>
            <a:pPr>
              <a:defRPr sz="2500" b="1">
                <a:solidFill>
                  <a:srgbClr val="0B1220"/>
                </a:solidFill>
              </a:defRPr>
            </a:pPr>
            <a:r>
              <a:t>System Architecture &amp; End-to-End Workflow</a:t>
            </a:r>
          </a:p>
        </p:txBody>
      </p:sp>
      <p:sp>
        <p:nvSpPr>
          <p:cNvPr id="4" name="Rectangle 3"/>
          <p:cNvSpPr/>
          <p:nvPr/>
        </p:nvSpPr>
        <p:spPr>
          <a:xfrm>
            <a:off x="731520" y="1298448"/>
            <a:ext cx="10728655"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10728655" cy="96012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150" b="1">
                <a:solidFill>
                  <a:srgbClr val="B91C1C"/>
                </a:solidFill>
              </a:defRPr>
            </a:pPr>
            <a:r>
              <a:t>LAYER 1: CLIENT PRESENTATION SUBSYSTEMS</a:t>
            </a:r>
          </a:p>
          <a:p>
            <a:pPr>
              <a:defRPr sz="1100">
                <a:solidFill>
                  <a:srgbClr val="1E293B"/>
                </a:solidFill>
              </a:defRPr>
            </a:pPr>
            <a:r>
              <a:t>Consumer Mobile Scanner (LAN: http://172.16.61.27:3000)  •  Brand Management Portal  •  Blockchain Explorer UI</a:t>
            </a:r>
          </a:p>
        </p:txBody>
      </p:sp>
      <p:sp>
        <p:nvSpPr>
          <p:cNvPr id="6" name="Rounded Rectangle 5"/>
          <p:cNvSpPr/>
          <p:nvPr/>
        </p:nvSpPr>
        <p:spPr>
          <a:xfrm>
            <a:off x="731520" y="2697480"/>
            <a:ext cx="10728655" cy="96012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150" b="1">
                <a:solidFill>
                  <a:srgbClr val="B91C1C"/>
                </a:solidFill>
              </a:defRPr>
            </a:pPr>
            <a:r>
              <a:t>LAYER 2: BACKEND CONTROLLER &amp; RESTFUL API PIPELINE</a:t>
            </a:r>
          </a:p>
          <a:p>
            <a:pPr>
              <a:defRPr sz="1100">
                <a:solidFill>
                  <a:srgbClr val="1E293B"/>
                </a:solidFill>
              </a:defRPr>
            </a:pPr>
            <a:r>
              <a:t>/api/products (Passport Minting)  •  /api/verify (Audit &amp; Anomaly Check)  •  /api/blockchain (Chain Telemetry)</a:t>
            </a:r>
          </a:p>
        </p:txBody>
      </p:sp>
      <p:sp>
        <p:nvSpPr>
          <p:cNvPr id="7" name="Rounded Rectangle 6"/>
          <p:cNvSpPr/>
          <p:nvPr/>
        </p:nvSpPr>
        <p:spPr>
          <a:xfrm>
            <a:off x="731520" y="3840480"/>
            <a:ext cx="10728655" cy="96012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150" b="1">
                <a:solidFill>
                  <a:srgbClr val="B91C1C"/>
                </a:solidFill>
              </a:defRPr>
            </a:pPr>
            <a:r>
              <a:t>LAYER 3: EMBEDDED SHA-256 BLOCKCHAIN CONSENSUS ENGINE</a:t>
            </a:r>
          </a:p>
          <a:p>
            <a:pPr>
              <a:defRPr sz="1100">
                <a:solidFill>
                  <a:srgbClr val="1E293B"/>
                </a:solidFill>
              </a:defRPr>
            </a:pPr>
            <a:r>
              <a:t>Chained Block Headers  •  Proof-of-Work Target (00...)  •  Cryptographic Nonce Loop  •  isChainValid() Verifier</a:t>
            </a:r>
          </a:p>
        </p:txBody>
      </p:sp>
      <p:sp>
        <p:nvSpPr>
          <p:cNvPr id="8" name="Rounded Rectangle 7"/>
          <p:cNvSpPr/>
          <p:nvPr/>
        </p:nvSpPr>
        <p:spPr>
          <a:xfrm>
            <a:off x="731520" y="4983480"/>
            <a:ext cx="10728655" cy="96012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150" b="1">
                <a:solidFill>
                  <a:srgbClr val="B91C1C"/>
                </a:solidFill>
              </a:defRPr>
            </a:pPr>
            <a:r>
              <a:t>LAYER 4: ATOMIC PERSISTENCE &amp; DATA ISOLATION TIER</a:t>
            </a:r>
          </a:p>
          <a:p>
            <a:pPr>
              <a:defRPr sz="1100">
                <a:solidFill>
                  <a:srgbClr val="1E293B"/>
                </a:solidFill>
              </a:defRPr>
            </a:pPr>
            <a:r>
              <a:t>truetrace_db.json Storage  •  Multi-Tenant User Isolation  •  RoleGuard RBAC Security Middleware  •  Audit Logs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1000" b="1">
                <a:solidFill>
                  <a:srgbClr val="B91C1C"/>
                </a:solidFill>
              </a:defRPr>
            </a:pPr>
            <a:r>
              <a:t>COMMUNITY SERVICE PROJECT • BRANCH: IT • DEPT: IE&amp;CT • 13-08-2026</a:t>
            </a:r>
          </a:p>
          <a:p>
            <a:pPr>
              <a:defRPr sz="2500" b="1">
                <a:solidFill>
                  <a:srgbClr val="0B1220"/>
                </a:solidFill>
              </a:defRPr>
            </a:pPr>
            <a:r>
              <a:t>Mind Map of the Complete Application</a:t>
            </a:r>
          </a:p>
        </p:txBody>
      </p:sp>
      <p:sp>
        <p:nvSpPr>
          <p:cNvPr id="4" name="Rectangle 3"/>
          <p:cNvSpPr/>
          <p:nvPr/>
        </p:nvSpPr>
        <p:spPr>
          <a:xfrm>
            <a:off x="731520" y="1298448"/>
            <a:ext cx="10728655"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212080" cy="2286000"/>
          </a:xfrm>
          <a:prstGeom prst="roundRect">
            <a:avLst/>
          </a:prstGeom>
          <a:solidFill>
            <a:srgbClr val="F8FAFC"/>
          </a:solidFill>
          <a:ln w="19050">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300" b="1">
                <a:solidFill>
                  <a:srgbClr val="B91C1C"/>
                </a:solidFill>
              </a:defRPr>
            </a:pPr>
            <a:r>
              <a:t>Core Identity &amp; Access</a:t>
            </a:r>
          </a:p>
          <a:p>
            <a:pPr>
              <a:defRPr sz="1100">
                <a:solidFill>
                  <a:srgbClr val="1E293B"/>
                </a:solidFill>
              </a:defRPr>
            </a:pPr>
            <a:r>
              <a:t>• Role-Based Access Control (RBAC: User vs Admin)</a:t>
            </a:r>
          </a:p>
          <a:p>
            <a:pPr>
              <a:defRPr sz="1100">
                <a:solidFill>
                  <a:srgbClr val="1E293B"/>
                </a:solidFill>
              </a:defRPr>
            </a:pPr>
            <a:r>
              <a:t>• RoleGuard security blocking /admin for standard accounts</a:t>
            </a:r>
          </a:p>
          <a:p>
            <a:pPr>
              <a:defRPr sz="1100">
                <a:solidFill>
                  <a:srgbClr val="1E293B"/>
                </a:solidFill>
              </a:defRPr>
            </a:pPr>
            <a:r>
              <a:t>• Public registration toggle controlled by administrator</a:t>
            </a:r>
          </a:p>
        </p:txBody>
      </p:sp>
      <p:sp>
        <p:nvSpPr>
          <p:cNvPr id="6" name="Rounded Rectangle 5"/>
          <p:cNvSpPr/>
          <p:nvPr/>
        </p:nvSpPr>
        <p:spPr>
          <a:xfrm>
            <a:off x="6217920" y="1554480"/>
            <a:ext cx="5212080" cy="2286000"/>
          </a:xfrm>
          <a:prstGeom prst="roundRect">
            <a:avLst/>
          </a:prstGeom>
          <a:solidFill>
            <a:srgbClr val="F8FAFC"/>
          </a:solidFill>
          <a:ln w="19050">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300" b="1">
                <a:solidFill>
                  <a:srgbClr val="B91C1C"/>
                </a:solidFill>
              </a:defRPr>
            </a:pPr>
            <a:r>
              <a:t>Asset Registry &amp; Minting</a:t>
            </a:r>
          </a:p>
          <a:p>
            <a:pPr>
              <a:defRPr sz="1100">
                <a:solidFill>
                  <a:srgbClr val="1E293B"/>
                </a:solidFill>
              </a:defRPr>
            </a:pPr>
            <a:r>
              <a:t>• Digital Product Passport issuance with unique rotational SKU</a:t>
            </a:r>
          </a:p>
          <a:p>
            <a:pPr>
              <a:defRPr sz="1100">
                <a:solidFill>
                  <a:srgbClr val="1E293B"/>
                </a:solidFill>
              </a:defRPr>
            </a:pPr>
            <a:r>
              <a:t>• Immediate transaction broadcast to pending blockchain pool</a:t>
            </a:r>
          </a:p>
          <a:p>
            <a:pPr>
              <a:defRPr sz="1100">
                <a:solidFill>
                  <a:srgbClr val="1E293B"/>
                </a:solidFill>
              </a:defRPr>
            </a:pPr>
            <a:r>
              <a:t>• Proof-of-Work block mining with difficulty target (00...)</a:t>
            </a:r>
          </a:p>
        </p:txBody>
      </p:sp>
      <p:sp>
        <p:nvSpPr>
          <p:cNvPr id="7" name="Rounded Rectangle 6"/>
          <p:cNvSpPr/>
          <p:nvPr/>
        </p:nvSpPr>
        <p:spPr>
          <a:xfrm>
            <a:off x="731520" y="4023360"/>
            <a:ext cx="5212080" cy="2286000"/>
          </a:xfrm>
          <a:prstGeom prst="roundRect">
            <a:avLst/>
          </a:prstGeom>
          <a:solidFill>
            <a:srgbClr val="F8FAFC"/>
          </a:solidFill>
          <a:ln w="19050">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300" b="1">
                <a:solidFill>
                  <a:srgbClr val="B91C1C"/>
                </a:solidFill>
              </a:defRPr>
            </a:pPr>
            <a:r>
              <a:t>Dual-Mode Verification</a:t>
            </a:r>
          </a:p>
          <a:p>
            <a:pPr>
              <a:defRPr sz="1100">
                <a:solidFill>
                  <a:srgbClr val="1E293B"/>
                </a:solidFill>
              </a:defRPr>
            </a:pPr>
            <a:r>
              <a:t>• Optical Camera Viewfinder with animated laser line</a:t>
            </a:r>
          </a:p>
          <a:p>
            <a:pPr>
              <a:defRPr sz="1100">
                <a:solidFill>
                  <a:srgbClr val="1E293B"/>
                </a:solidFill>
              </a:defRPr>
            </a:pPr>
            <a:r>
              <a:t>• Drag-and-drop QR file upload with automated image decoding</a:t>
            </a:r>
          </a:p>
          <a:p>
            <a:pPr>
              <a:defRPr sz="1100">
                <a:solidFill>
                  <a:srgbClr val="1E293B"/>
                </a:solidFill>
              </a:defRPr>
            </a:pPr>
            <a:r>
              <a:t>• Real-time ledger lookup, audit logging, and celebratory confetti</a:t>
            </a:r>
          </a:p>
        </p:txBody>
      </p:sp>
      <p:sp>
        <p:nvSpPr>
          <p:cNvPr id="8" name="Rounded Rectangle 7"/>
          <p:cNvSpPr/>
          <p:nvPr/>
        </p:nvSpPr>
        <p:spPr>
          <a:xfrm>
            <a:off x="6217920" y="4023360"/>
            <a:ext cx="5212080" cy="2286000"/>
          </a:xfrm>
          <a:prstGeom prst="roundRect">
            <a:avLst/>
          </a:prstGeom>
          <a:solidFill>
            <a:srgbClr val="F8FAFC"/>
          </a:solidFill>
          <a:ln w="19050">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300" b="1">
                <a:solidFill>
                  <a:srgbClr val="B91C1C"/>
                </a:solidFill>
              </a:defRPr>
            </a:pPr>
            <a:r>
              <a:t>P2P Telemetry &amp; Audit</a:t>
            </a:r>
          </a:p>
          <a:p>
            <a:pPr>
              <a:defRPr sz="1100">
                <a:solidFill>
                  <a:srgbClr val="1E293B"/>
                </a:solidFill>
              </a:defRPr>
            </a:pPr>
            <a:r>
              <a:t>• Live Blockchain Explorer with tamper attack simulation</a:t>
            </a:r>
          </a:p>
          <a:p>
            <a:pPr>
              <a:defRPr sz="1100">
                <a:solidFill>
                  <a:srgbClr val="1E293B"/>
                </a:solidFill>
              </a:defRPr>
            </a:pPr>
            <a:r>
              <a:t>• Distributed P2P network connecting 4 client-server nodes</a:t>
            </a:r>
          </a:p>
          <a:p>
            <a:pPr>
              <a:defRPr sz="1100">
                <a:solidFill>
                  <a:srgbClr val="1E293B"/>
                </a:solidFill>
              </a:defRPr>
            </a:pPr>
            <a:r>
              <a:t>• Global map tracking 142 supply chain checkpoints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1000" b="1">
                <a:solidFill>
                  <a:srgbClr val="B91C1C"/>
                </a:solidFill>
              </a:defRPr>
            </a:pPr>
            <a:r>
              <a:t>COMMUNITY SERVICE PROJECT • BRANCH: IT • DEPT: IE&amp;CT • 13-08-2026</a:t>
            </a:r>
          </a:p>
          <a:p>
            <a:pPr>
              <a:defRPr sz="2500" b="1">
                <a:solidFill>
                  <a:srgbClr val="0B1220"/>
                </a:solidFill>
              </a:defRPr>
            </a:pPr>
            <a:r>
              <a:t>Front-End Design &amp; Real Application Modules</a:t>
            </a:r>
          </a:p>
        </p:txBody>
      </p:sp>
      <p:sp>
        <p:nvSpPr>
          <p:cNvPr id="4" name="Rectangle 3"/>
          <p:cNvSpPr/>
          <p:nvPr/>
        </p:nvSpPr>
        <p:spPr>
          <a:xfrm>
            <a:off x="731520" y="1298448"/>
            <a:ext cx="10728655"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212080" cy="228600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01. Glassmorphic User Workspace</a:t>
            </a:r>
          </a:p>
          <a:p>
            <a:pPr>
              <a:defRPr sz="1100">
                <a:solidFill>
                  <a:srgbClr val="1E293B"/>
                </a:solidFill>
              </a:defRPr>
            </a:pPr>
            <a:r>
              <a:t>Built with a Dark Midnight Navy theme (#0B1220), subtle glow borders, and translucent cards. Implements personalized greeting (# WELCOME TO TRUETRACE, [USER]) and dynamic 0-state onboarding counters.</a:t>
            </a:r>
          </a:p>
        </p:txBody>
      </p:sp>
      <p:sp>
        <p:nvSpPr>
          <p:cNvPr id="6" name="Rounded Rectangle 5"/>
          <p:cNvSpPr/>
          <p:nvPr/>
        </p:nvSpPr>
        <p:spPr>
          <a:xfrm>
            <a:off x="6217920" y="1554480"/>
            <a:ext cx="5212080" cy="228600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02. Dual-Mode QR Verification Console (/dashboard/verify)</a:t>
            </a:r>
          </a:p>
          <a:p>
            <a:pPr>
              <a:defRPr sz="1100">
                <a:solidFill>
                  <a:srgbClr val="1E293B"/>
                </a:solidFill>
              </a:defRPr>
            </a:pPr>
            <a:r>
              <a:t>Combines an optical camera laser viewfinder with drag-and-drop file upload. Displays celebratory confetti on authentic match and red warning alerts for unrecognized counterfeit tokens.</a:t>
            </a:r>
          </a:p>
        </p:txBody>
      </p:sp>
      <p:sp>
        <p:nvSpPr>
          <p:cNvPr id="7" name="Rounded Rectangle 6"/>
          <p:cNvSpPr/>
          <p:nvPr/>
        </p:nvSpPr>
        <p:spPr>
          <a:xfrm>
            <a:off x="731520" y="4023360"/>
            <a:ext cx="5212080" cy="228600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03. Blockchain Ledger Explorer (/dashboard/blockchain)</a:t>
            </a:r>
          </a:p>
          <a:p>
            <a:pPr>
              <a:defRPr sz="1100">
                <a:solidFill>
                  <a:srgbClr val="1E293B"/>
                </a:solidFill>
              </a:defRPr>
            </a:pPr>
            <a:r>
              <a:t>Provides transparent inspection of blocks, SHA-256 hashes, nonces, and Merkle roots. Features the 'Simulate Malicious Tampering' button to demonstrate live hash breakage to evaluators.</a:t>
            </a:r>
          </a:p>
        </p:txBody>
      </p:sp>
      <p:sp>
        <p:nvSpPr>
          <p:cNvPr id="8" name="Rounded Rectangle 7"/>
          <p:cNvSpPr/>
          <p:nvPr/>
        </p:nvSpPr>
        <p:spPr>
          <a:xfrm>
            <a:off x="6217920" y="4023360"/>
            <a:ext cx="5212080" cy="228600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04. Distributed P2P Nodes &amp; Custody Telemetry</a:t>
            </a:r>
          </a:p>
          <a:p>
            <a:pPr>
              <a:defRPr sz="1100">
                <a:solidFill>
                  <a:srgbClr val="1E293B"/>
                </a:solidFill>
              </a:defRPr>
            </a:pPr>
            <a:r>
              <a:t>Interactive console visualizing 4 client-server systems (Host Authority, Mobile Scanner, Manufacturer, Port) with live P2P gossip packet broadcasting and global mapping across 142 hubs.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1000" b="1">
                <a:solidFill>
                  <a:srgbClr val="B91C1C"/>
                </a:solidFill>
              </a:defRPr>
            </a:pPr>
            <a:r>
              <a:t>COMMUNITY SERVICE PROJECT • BRANCH: IT • DEPT: IE&amp;CT • 13-08-2026</a:t>
            </a:r>
          </a:p>
          <a:p>
            <a:pPr>
              <a:defRPr sz="2500" b="1">
                <a:solidFill>
                  <a:srgbClr val="0B1220"/>
                </a:solidFill>
              </a:defRPr>
            </a:pPr>
            <a:r>
              <a:t>How the Website Works: QR Scan -&gt; Verification -&gt; Result</a:t>
            </a:r>
          </a:p>
        </p:txBody>
      </p:sp>
      <p:sp>
        <p:nvSpPr>
          <p:cNvPr id="4" name="Rectangle 3"/>
          <p:cNvSpPr/>
          <p:nvPr/>
        </p:nvSpPr>
        <p:spPr>
          <a:xfrm>
            <a:off x="731520" y="1298448"/>
            <a:ext cx="10728655"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212080" cy="2286000"/>
          </a:xfrm>
          <a:prstGeom prst="roundRect">
            <a:avLst/>
          </a:prstGeom>
          <a:solidFill>
            <a:srgbClr val="F8FAFC"/>
          </a:solidFill>
          <a:ln w="19050">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Step 1: Ingestion &amp; Token Extraction</a:t>
            </a:r>
          </a:p>
          <a:p>
            <a:pPr>
              <a:defRPr sz="1100">
                <a:solidFill>
                  <a:srgbClr val="1E293B"/>
                </a:solidFill>
              </a:defRPr>
            </a:pPr>
            <a:r>
              <a:t>The consumer captures a micro-seal via the optical camera or uploads a QR image. The client decodes the embedded rotational token and initiates an HTTP POST request to /api/verify with device telemetry.</a:t>
            </a:r>
          </a:p>
        </p:txBody>
      </p:sp>
      <p:sp>
        <p:nvSpPr>
          <p:cNvPr id="6" name="Rounded Rectangle 5"/>
          <p:cNvSpPr/>
          <p:nvPr/>
        </p:nvSpPr>
        <p:spPr>
          <a:xfrm>
            <a:off x="6217920" y="1554480"/>
            <a:ext cx="5212080" cy="2286000"/>
          </a:xfrm>
          <a:prstGeom prst="roundRect">
            <a:avLst/>
          </a:prstGeom>
          <a:solidFill>
            <a:srgbClr val="F8FAFC"/>
          </a:solidFill>
          <a:ln w="19050">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Step 2: Ledger Cryptographic Lookup</a:t>
            </a:r>
          </a:p>
          <a:p>
            <a:pPr>
              <a:defRPr sz="1100">
                <a:solidFill>
                  <a:srgbClr val="1E293B"/>
                </a:solidFill>
              </a:defRPr>
            </a:pPr>
            <a:r>
              <a:t>The backend searches the persistent blockchain ledger. If the token matches a registered Genesis passport, the system validates the digital signature and unbroken chain-of-custody milestones.</a:t>
            </a:r>
          </a:p>
        </p:txBody>
      </p:sp>
      <p:sp>
        <p:nvSpPr>
          <p:cNvPr id="7" name="Rounded Rectangle 6"/>
          <p:cNvSpPr/>
          <p:nvPr/>
        </p:nvSpPr>
        <p:spPr>
          <a:xfrm>
            <a:off x="731520" y="4023360"/>
            <a:ext cx="5212080" cy="2286000"/>
          </a:xfrm>
          <a:prstGeom prst="roundRect">
            <a:avLst/>
          </a:prstGeom>
          <a:solidFill>
            <a:srgbClr val="F8FAFC"/>
          </a:solidFill>
          <a:ln w="19050">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Step 3: Anomaly Scoring &amp; Block Mining</a:t>
            </a:r>
          </a:p>
          <a:p>
            <a:pPr>
              <a:defRPr sz="1100">
                <a:solidFill>
                  <a:srgbClr val="1E293B"/>
                </a:solidFill>
              </a:defRPr>
            </a:pPr>
            <a:r>
              <a:t>The engine evaluates transit velocity. If valid, an audit block is immediately mined into the blockchain using SHA-256 Proof-of-Work, recording the scan event and incrementing verification counts.</a:t>
            </a:r>
          </a:p>
        </p:txBody>
      </p:sp>
      <p:sp>
        <p:nvSpPr>
          <p:cNvPr id="8" name="Rounded Rectangle 7"/>
          <p:cNvSpPr/>
          <p:nvPr/>
        </p:nvSpPr>
        <p:spPr>
          <a:xfrm>
            <a:off x="6217920" y="4023360"/>
            <a:ext cx="5212080" cy="2286000"/>
          </a:xfrm>
          <a:prstGeom prst="roundRect">
            <a:avLst/>
          </a:prstGeom>
          <a:solidFill>
            <a:srgbClr val="F8FAFC"/>
          </a:solidFill>
          <a:ln w="19050">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Step 4: Client Verdict &amp; Confetti Animation</a:t>
            </a:r>
          </a:p>
          <a:p>
            <a:pPr>
              <a:defRPr sz="1100">
                <a:solidFill>
                  <a:srgbClr val="1E293B"/>
                </a:solidFill>
              </a:defRPr>
            </a:pPr>
            <a:r>
              <a:t>If verified, the browser renders the authentic certificate with provenance specs and confetti. If the code is unlisted, the engine logs a tamper alert and renders a red counterfeit alert.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1000" b="1">
                <a:solidFill>
                  <a:srgbClr val="B91C1C"/>
                </a:solidFill>
              </a:defRPr>
            </a:pPr>
            <a:r>
              <a:t>COMMUNITY SERVICE PROJECT • BRANCH: IT • DEPT: IE&amp;CT • 13-08-2026</a:t>
            </a:r>
          </a:p>
          <a:p>
            <a:pPr>
              <a:defRPr sz="2500" b="1">
                <a:solidFill>
                  <a:srgbClr val="0B1220"/>
                </a:solidFill>
              </a:defRPr>
            </a:pPr>
            <a:r>
              <a:t>Role of AI + Blockchain in TrueTrace</a:t>
            </a:r>
          </a:p>
        </p:txBody>
      </p:sp>
      <p:sp>
        <p:nvSpPr>
          <p:cNvPr id="4" name="Rectangle 3"/>
          <p:cNvSpPr/>
          <p:nvPr/>
        </p:nvSpPr>
        <p:spPr>
          <a:xfrm>
            <a:off x="731520" y="1298448"/>
            <a:ext cx="10728655"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212080" cy="46634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150" b="1">
                <a:solidFill>
                  <a:srgbClr val="B91C1C"/>
                </a:solidFill>
              </a:defRPr>
            </a:pPr>
            <a:r>
              <a:t>THE BLOCKCHAIN LAYER (IMMUTABLE SINGLE SOURCE OF TRUTH)</a:t>
            </a:r>
          </a:p>
          <a:p>
            <a:pPr>
              <a:defRPr sz="1100">
                <a:solidFill>
                  <a:srgbClr val="1E293B"/>
                </a:solidFill>
              </a:defRPr>
            </a:pPr>
            <a:r>
              <a:t>• Cryptographic Chaining: Every block mathematically embeds the previous block's SHA-256 hash. Once written, records cannot be modified, deleted, or backdated by any administrator.</a:t>
            </a:r>
            <a:br/>
            <a:br/>
            <a:r>
              <a:t>• Proof-of-Work Consensus: Employs a difficulty puzzle (target: 00...) solved via iterative nonce calculation, rendering historical rewriting computationally unfeasible.</a:t>
            </a:r>
            <a:br/>
            <a:br/>
            <a:r>
              <a:t>• Merkle Root Integrity: Transactions are aggregated into a cryptographic Merkle tree, enabling instant mathematical proof of product inclusion without downloading full chain data.</a:t>
            </a:r>
            <a:br/>
            <a:br/>
            <a:r>
              <a:t>• Non-Repudiation: Every manufacturing and verification milestone is cryptographically signed, establishing an unbroken legal chain-of-custody.</a:t>
            </a:r>
          </a:p>
        </p:txBody>
      </p:sp>
      <p:sp>
        <p:nvSpPr>
          <p:cNvPr id="6" name="Rounded Rectangle 5"/>
          <p:cNvSpPr/>
          <p:nvPr/>
        </p:nvSpPr>
        <p:spPr>
          <a:xfrm>
            <a:off x="6217920" y="1554480"/>
            <a:ext cx="5212080" cy="46634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150" b="1">
                <a:solidFill>
                  <a:srgbClr val="0E7490"/>
                </a:solidFill>
              </a:defRPr>
            </a:pPr>
            <a:r>
              <a:t>THE AI ANOMALY ENGINE (BEHAVIORAL RISK &amp; VELOCITY SCORING)</a:t>
            </a:r>
          </a:p>
          <a:p>
            <a:pPr>
              <a:defRPr sz="1100">
                <a:solidFill>
                  <a:srgbClr val="1E293B"/>
                </a:solidFill>
              </a:defRPr>
            </a:pPr>
            <a:r>
              <a:t>• Geographic Velocity Anomaly Detection: Calculates travel distance versus elapsed time between sequential scans. If an item is scanned in Geneva and 10 minutes later in New York, it flags an impossible travel velocity.</a:t>
            </a:r>
            <a:br/>
            <a:br/>
            <a:r>
              <a:t>• Duplicate Concurrent Scan Interception: If identical QR codes are submitted simultaneously from distinct IP geolocations, the AI flags duplicate token cloning.</a:t>
            </a:r>
            <a:br/>
            <a:br/>
            <a:r>
              <a:t>• Predictive Threat Scoring: Evaluates device type, IP subnet, and scanning frequency to generate a dynamic anomaly score (0–100%), escalating suspicious transactions to administrators.</a:t>
            </a:r>
            <a:br/>
            <a:br/>
            <a:r>
              <a:t>• Adaptive Security: Works synergistically with blockchain to ensure cloned barcodes cannot fool the system even if physically copied.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1000" b="1">
                <a:solidFill>
                  <a:srgbClr val="B91C1C"/>
                </a:solidFill>
              </a:defRPr>
            </a:pPr>
            <a:r>
              <a:t>COMMUNITY SERVICE PROJECT • BRANCH: IT • DEPT: IE&amp;CT • 13-08-2026</a:t>
            </a:r>
          </a:p>
          <a:p>
            <a:pPr>
              <a:defRPr sz="2500" b="1">
                <a:solidFill>
                  <a:srgbClr val="0B1220"/>
                </a:solidFill>
              </a:defRPr>
            </a:pPr>
            <a:r>
              <a:t>Database, Backend &amp; RESTful API Pipeline</a:t>
            </a:r>
          </a:p>
        </p:txBody>
      </p:sp>
      <p:sp>
        <p:nvSpPr>
          <p:cNvPr id="4" name="Rectangle 3"/>
          <p:cNvSpPr/>
          <p:nvPr/>
        </p:nvSpPr>
        <p:spPr>
          <a:xfrm>
            <a:off x="731520" y="1298448"/>
            <a:ext cx="10728655"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212080" cy="228600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01. Serverless REST Endpoints (/api/*)</a:t>
            </a:r>
          </a:p>
          <a:p>
            <a:pPr>
              <a:defRPr sz="1100">
                <a:solidFill>
                  <a:srgbClr val="1E293B"/>
                </a:solidFill>
              </a:defRPr>
            </a:pPr>
            <a:r>
              <a:t>Built with Next.js 14 App Router route handlers. All endpoints (/api/products, /api/verify, /api/blockchain, /api/users) execute server-side Node.js logic with strict JSON request validation.</a:t>
            </a:r>
          </a:p>
        </p:txBody>
      </p:sp>
      <p:sp>
        <p:nvSpPr>
          <p:cNvPr id="6" name="Rounded Rectangle 5"/>
          <p:cNvSpPr/>
          <p:nvPr/>
        </p:nvSpPr>
        <p:spPr>
          <a:xfrm>
            <a:off x="6217920" y="1554480"/>
            <a:ext cx="5212080" cy="228600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02. Atomic Persistence (truetrace_db.json)</a:t>
            </a:r>
          </a:p>
          <a:p>
            <a:pPr>
              <a:defRPr sz="1100">
                <a:solidFill>
                  <a:srgbClr val="1E293B"/>
                </a:solidFill>
              </a:defRPr>
            </a:pPr>
            <a:r>
              <a:t>Eliminates complex SQL/NoSQL setup through write-through filesystem persistence. Stores user credentials, multi-tenant product registries, scan history, and serialized blockchain instances.</a:t>
            </a:r>
          </a:p>
        </p:txBody>
      </p:sp>
      <p:sp>
        <p:nvSpPr>
          <p:cNvPr id="7" name="Rounded Rectangle 6"/>
          <p:cNvSpPr/>
          <p:nvPr/>
        </p:nvSpPr>
        <p:spPr>
          <a:xfrm>
            <a:off x="731520" y="4023360"/>
            <a:ext cx="5212080" cy="228600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03. In-Memory Consensus Singleton</a:t>
            </a:r>
          </a:p>
          <a:p>
            <a:pPr>
              <a:defRPr sz="1100">
                <a:solidFill>
                  <a:srgbClr val="1E293B"/>
                </a:solidFill>
              </a:defRPr>
            </a:pPr>
            <a:r>
              <a:t>Maintains a singleton Blockchain instance during runtime. Asynchronous write queues commit new mined blocks to disk atomically, ensuring zero data loss upon server reboot or power failure.</a:t>
            </a:r>
          </a:p>
        </p:txBody>
      </p:sp>
      <p:sp>
        <p:nvSpPr>
          <p:cNvPr id="8" name="Rounded Rectangle 7"/>
          <p:cNvSpPr/>
          <p:nvPr/>
        </p:nvSpPr>
        <p:spPr>
          <a:xfrm>
            <a:off x="6217920" y="4023360"/>
            <a:ext cx="5212080" cy="2286000"/>
          </a:xfrm>
          <a:prstGeom prst="roundRect">
            <a:avLst/>
          </a:prstGeom>
          <a:solidFill>
            <a:srgbClr val="F8FAFC"/>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04. Multi-Tenant Role-Based Access Control</a:t>
            </a:r>
          </a:p>
          <a:p>
            <a:pPr>
              <a:defRPr sz="1100">
                <a:solidFill>
                  <a:srgbClr val="1E293B"/>
                </a:solidFill>
              </a:defRPr>
            </a:pPr>
            <a:r>
              <a:t>Client state is synchronized via React UserDataContext. RoleGuard middleware inspects session tokens, ensuring standard consumers are strictly isolated from administrative control functions.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1000" b="1">
                <a:solidFill>
                  <a:srgbClr val="B91C1C"/>
                </a:solidFill>
              </a:defRPr>
            </a:pPr>
            <a:r>
              <a:t>COMMUNITY SERVICE PROJECT • BRANCH: IT • DEPT: IE&amp;CT • 13-08-2026</a:t>
            </a:r>
          </a:p>
          <a:p>
            <a:pPr>
              <a:defRPr sz="2500" b="1">
                <a:solidFill>
                  <a:srgbClr val="0B1220"/>
                </a:solidFill>
              </a:defRPr>
            </a:pPr>
            <a:r>
              <a:t>Results, Key Features &amp; Conclusion</a:t>
            </a:r>
          </a:p>
        </p:txBody>
      </p:sp>
      <p:sp>
        <p:nvSpPr>
          <p:cNvPr id="4" name="Rectangle 3"/>
          <p:cNvSpPr/>
          <p:nvPr/>
        </p:nvSpPr>
        <p:spPr>
          <a:xfrm>
            <a:off x="731520" y="1298448"/>
            <a:ext cx="10728655"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10728655" cy="2286000"/>
          </a:xfrm>
          <a:prstGeom prst="roundRect">
            <a:avLst/>
          </a:prstGeom>
          <a:solidFill>
            <a:srgbClr val="F8FAFC"/>
          </a:solidFill>
          <a:ln w="19050">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300" b="1">
                <a:solidFill>
                  <a:srgbClr val="B91C1C"/>
                </a:solidFill>
              </a:defRPr>
            </a:pPr>
            <a:r>
              <a:t>EMPIRICALLY DEMONSTRATED RESULTS</a:t>
            </a:r>
          </a:p>
          <a:p>
            <a:pPr>
              <a:defRPr sz="1150">
                <a:solidFill>
                  <a:srgbClr val="1E293B"/>
                </a:solidFill>
              </a:defRPr>
            </a:pPr>
            <a:r>
              <a:t>• Deterministic Sub-Second Verification: Scans authenticate against the blockchain in under 40 milliseconds.</a:t>
            </a:r>
          </a:p>
          <a:p>
            <a:pPr>
              <a:defRPr sz="1150">
                <a:solidFill>
                  <a:srgbClr val="1E293B"/>
                </a:solidFill>
              </a:defRPr>
            </a:pPr>
            <a:r>
              <a:t>• Instant Tamper Detection: Modifying a database record immediately invalidates subsequent SHA-256 block hashes (O(n) verification).</a:t>
            </a:r>
          </a:p>
          <a:p>
            <a:pPr>
              <a:defRPr sz="1150">
                <a:solidFill>
                  <a:srgbClr val="1E293B"/>
                </a:solidFill>
              </a:defRPr>
            </a:pPr>
            <a:r>
              <a:t>• Multi-System LAN Operation: Mobile phones successfully verify goods hosted on the laptop server at 0.0.0.0:3000.</a:t>
            </a:r>
          </a:p>
          <a:p>
            <a:pPr>
              <a:defRPr sz="1150">
                <a:solidFill>
                  <a:srgbClr val="1E293B"/>
                </a:solidFill>
              </a:defRPr>
            </a:pPr>
            <a:r>
              <a:t>• Zero Gas Overhead: Completely self-contained engine removes external public network fees and outages.</a:t>
            </a:r>
          </a:p>
        </p:txBody>
      </p:sp>
      <p:sp>
        <p:nvSpPr>
          <p:cNvPr id="6" name="Rounded Rectangle 5"/>
          <p:cNvSpPr/>
          <p:nvPr/>
        </p:nvSpPr>
        <p:spPr>
          <a:xfrm>
            <a:off x="731520" y="4023360"/>
            <a:ext cx="10728655" cy="2286000"/>
          </a:xfrm>
          <a:prstGeom prst="roundRect">
            <a:avLst/>
          </a:prstGeom>
          <a:solidFill>
            <a:srgbClr val="F8FAFC"/>
          </a:solidFill>
          <a:ln w="19050">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300" b="1">
                <a:solidFill>
                  <a:srgbClr val="B91C1C"/>
                </a:solidFill>
              </a:defRPr>
            </a:pPr>
            <a:r>
              <a:t>PROJECT CONCLUSION</a:t>
            </a:r>
          </a:p>
          <a:p>
            <a:pPr>
              <a:defRPr sz="1150">
                <a:solidFill>
                  <a:srgbClr val="1E293B"/>
                </a:solidFill>
              </a:defRPr>
            </a:pPr>
            <a:r>
              <a:t>• TrueTrace successfully bridges physical goods with immutable digital provenance without requiring expensive proprietary hardware.</a:t>
            </a:r>
          </a:p>
          <a:p>
            <a:pPr>
              <a:defRPr sz="1150">
                <a:solidFill>
                  <a:srgbClr val="1E293B"/>
                </a:solidFill>
              </a:defRPr>
            </a:pPr>
            <a:r>
              <a:t>• Demonstrates how combining native SHA-256 blockchain consensus with AI velocity heuristics eliminates static barcode cloning.</a:t>
            </a:r>
          </a:p>
          <a:p>
            <a:pPr>
              <a:defRPr sz="1150">
                <a:solidFill>
                  <a:srgbClr val="1E293B"/>
                </a:solidFill>
              </a:defRPr>
            </a:pPr>
            <a:r>
              <a:t>• Delivers an enterprise-ready, production-grade architecture supporting multi-tenant isolation, supply chain telemetry, and administrative governance.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1000" b="1">
                <a:solidFill>
                  <a:srgbClr val="B91C1C"/>
                </a:solidFill>
              </a:defRPr>
            </a:pPr>
            <a:r>
              <a:t>COMMUNITY SERVICE PROJECT • BRANCH: IT • DEPT: IE&amp;CT • 13-08-2026</a:t>
            </a:r>
          </a:p>
          <a:p>
            <a:pPr>
              <a:defRPr sz="2500" b="1">
                <a:solidFill>
                  <a:srgbClr val="0B1220"/>
                </a:solidFill>
              </a:defRPr>
            </a:pPr>
            <a:r>
              <a:t>Future Scope</a:t>
            </a:r>
          </a:p>
        </p:txBody>
      </p:sp>
      <p:sp>
        <p:nvSpPr>
          <p:cNvPr id="4" name="Rectangle 3"/>
          <p:cNvSpPr/>
          <p:nvPr/>
        </p:nvSpPr>
        <p:spPr>
          <a:xfrm>
            <a:off x="731520" y="1298448"/>
            <a:ext cx="10728655"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212080" cy="2286000"/>
          </a:xfrm>
          <a:prstGeom prst="roundRect">
            <a:avLst/>
          </a:prstGeom>
          <a:solidFill>
            <a:srgbClr val="F8FAFC"/>
          </a:solidFill>
          <a:ln w="19050">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Phase 1: Cryptographic Hardware Tags (IoT)</a:t>
            </a:r>
          </a:p>
          <a:p>
            <a:pPr>
              <a:defRPr sz="1100">
                <a:solidFill>
                  <a:srgbClr val="1E293B"/>
                </a:solidFill>
              </a:defRPr>
            </a:pPr>
            <a:r>
              <a:t>Directly embedding tamper-evident NFC Type-5 chips and cryptographic RFID threads into luxury items and pharmaceutical blister packs. Breaking the physical seal destroys the cryptographic key.</a:t>
            </a:r>
          </a:p>
        </p:txBody>
      </p:sp>
      <p:sp>
        <p:nvSpPr>
          <p:cNvPr id="6" name="Rounded Rectangle 5"/>
          <p:cNvSpPr/>
          <p:nvPr/>
        </p:nvSpPr>
        <p:spPr>
          <a:xfrm>
            <a:off x="6217920" y="1554480"/>
            <a:ext cx="5212080" cy="2286000"/>
          </a:xfrm>
          <a:prstGeom prst="roundRect">
            <a:avLst/>
          </a:prstGeom>
          <a:solidFill>
            <a:srgbClr val="F8FAFC"/>
          </a:solidFill>
          <a:ln w="19050">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Phase 2: Cold-Chain Environmental IoT Loggers</a:t>
            </a:r>
          </a:p>
          <a:p>
            <a:pPr>
              <a:defRPr sz="1100">
                <a:solidFill>
                  <a:srgbClr val="1E293B"/>
                </a:solidFill>
              </a:defRPr>
            </a:pPr>
            <a:r>
              <a:t>Integrating automated IoT temperature and humidity sensors for biologics and vaccines. Sensor telemetry is committed to block transactions; threshold breaches invalidate the passport automatically.</a:t>
            </a:r>
          </a:p>
        </p:txBody>
      </p:sp>
      <p:sp>
        <p:nvSpPr>
          <p:cNvPr id="7" name="Rounded Rectangle 6"/>
          <p:cNvSpPr/>
          <p:nvPr/>
        </p:nvSpPr>
        <p:spPr>
          <a:xfrm>
            <a:off x="731520" y="4023360"/>
            <a:ext cx="5212080" cy="2286000"/>
          </a:xfrm>
          <a:prstGeom prst="roundRect">
            <a:avLst/>
          </a:prstGeom>
          <a:solidFill>
            <a:srgbClr val="F8FAFC"/>
          </a:solidFill>
          <a:ln w="19050">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Phase 3: Public Layer-2 Blockchain Interoperability</a:t>
            </a:r>
          </a:p>
          <a:p>
            <a:pPr>
              <a:defRPr sz="1100">
                <a:solidFill>
                  <a:srgbClr val="1E293B"/>
                </a:solidFill>
              </a:defRPr>
            </a:pPr>
            <a:r>
              <a:t>Bridging TrueTrace's high-throughput consortium engine to public Ethereum / Polygon Layer-2 rollups via zero-knowledge state proofs for decentralized cross-border enterprise settlements.</a:t>
            </a:r>
          </a:p>
        </p:txBody>
      </p:sp>
      <p:sp>
        <p:nvSpPr>
          <p:cNvPr id="8" name="Rounded Rectangle 7"/>
          <p:cNvSpPr/>
          <p:nvPr/>
        </p:nvSpPr>
        <p:spPr>
          <a:xfrm>
            <a:off x="6217920" y="4023360"/>
            <a:ext cx="5212080" cy="2286000"/>
          </a:xfrm>
          <a:prstGeom prst="roundRect">
            <a:avLst/>
          </a:prstGeom>
          <a:solidFill>
            <a:srgbClr val="F8FAFC"/>
          </a:solidFill>
          <a:ln w="19050">
            <a:solidFill>
              <a:srgbClr val="0B122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250" b="1">
                <a:solidFill>
                  <a:srgbClr val="B91C1C"/>
                </a:solidFill>
              </a:defRPr>
            </a:pPr>
            <a:r>
              <a:t>Phase 4: AI Computer Vision Texture Inspection</a:t>
            </a:r>
          </a:p>
          <a:p>
            <a:pPr>
              <a:defRPr sz="1100">
                <a:solidFill>
                  <a:srgbClr val="1E293B"/>
                </a:solidFill>
              </a:defRPr>
            </a:pPr>
            <a:r>
              <a:t>Deploying Convolutional Neural Networks (CNNs) to analyze physical micro-surface textures, guilloché engravings, and holographic micro-flaws that cannot be replicated by 3D printing.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1000" b="1">
                <a:solidFill>
                  <a:srgbClr val="B91C1C"/>
                </a:solidFill>
              </a:defRPr>
            </a:pPr>
            <a:r>
              <a:t>COMMUNITY SERVICE PROJECT • BRANCH: IT • DEPT: IE&amp;CT • 13-08-2026</a:t>
            </a:r>
          </a:p>
          <a:p>
            <a:pPr>
              <a:defRPr sz="2500" b="1">
                <a:solidFill>
                  <a:srgbClr val="0B1220"/>
                </a:solidFill>
              </a:defRPr>
            </a:pPr>
            <a:r>
              <a:t>Reference</a:t>
            </a:r>
          </a:p>
        </p:txBody>
      </p:sp>
      <p:sp>
        <p:nvSpPr>
          <p:cNvPr id="4" name="Rectangle 3"/>
          <p:cNvSpPr/>
          <p:nvPr/>
        </p:nvSpPr>
        <p:spPr>
          <a:xfrm>
            <a:off x="731520" y="1298448"/>
            <a:ext cx="10728655"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10728655" cy="4572000"/>
          </a:xfrm>
          <a:prstGeom prst="rect">
            <a:avLst/>
          </a:prstGeom>
          <a:noFill/>
        </p:spPr>
        <p:txBody>
          <a:bodyPr wrap="square">
            <a:spAutoFit/>
          </a:bodyPr>
          <a:lstStyle/>
          <a:p/>
          <a:p>
            <a:pPr>
              <a:spcAft>
                <a:spcPts val="1400"/>
              </a:spcAft>
            </a:pPr>
            <a:r>
              <a:rPr b="1" sz="1300">
                <a:solidFill>
                  <a:srgbClr val="B91C1C"/>
                </a:solidFill>
              </a:rPr>
              <a:t>[1] S. Nakamoto, </a:t>
            </a:r>
            <a:r>
              <a:rPr i="1" sz="1300">
                <a:solidFill>
                  <a:srgbClr val="0B1220"/>
                </a:solidFill>
              </a:rPr>
              <a:t>"Bitcoin: A Peer-to-Peer Electronic Cash System", </a:t>
            </a:r>
            <a:r>
              <a:rPr sz="1300">
                <a:solidFill>
                  <a:srgbClr val="1E293B"/>
                </a:solidFill>
              </a:rPr>
              <a:t>Decentralized Cryptographic White Paper, 2008.</a:t>
            </a:r>
          </a:p>
          <a:p>
            <a:pPr>
              <a:spcAft>
                <a:spcPts val="1400"/>
              </a:spcAft>
            </a:pPr>
            <a:r>
              <a:rPr b="1" sz="1300">
                <a:solidFill>
                  <a:srgbClr val="B91C1C"/>
                </a:solidFill>
              </a:rPr>
              <a:t>[2] K. Toyoda, P. T. Mathiopoulos, I. Sasase, and R. Ohtsuki, </a:t>
            </a:r>
            <a:r>
              <a:rPr i="1" sz="1300">
                <a:solidFill>
                  <a:srgbClr val="0B1220"/>
                </a:solidFill>
              </a:rPr>
              <a:t>"A Novel Blockchain-Based Product Ownership Management System (POMS) for Anti-Counterfeits in the Post Supply Chain", </a:t>
            </a:r>
            <a:r>
              <a:rPr sz="1300">
                <a:solidFill>
                  <a:srgbClr val="1E293B"/>
                </a:solidFill>
              </a:rPr>
              <a:t>IEEE Access, vol. 5, pp. 17465-17477, 2017.</a:t>
            </a:r>
          </a:p>
          <a:p>
            <a:pPr>
              <a:spcAft>
                <a:spcPts val="1400"/>
              </a:spcAft>
            </a:pPr>
            <a:r>
              <a:rPr b="1" sz="1300">
                <a:solidFill>
                  <a:srgbClr val="B91C1C"/>
                </a:solidFill>
              </a:rPr>
              <a:t>[3] National Institute of Standards and Technology (NIST), </a:t>
            </a:r>
            <a:r>
              <a:rPr i="1" sz="1300">
                <a:solidFill>
                  <a:srgbClr val="0B1220"/>
                </a:solidFill>
              </a:rPr>
              <a:t>"Secure Hash Standard (SHS): SHA-256 Specifications", </a:t>
            </a:r>
            <a:r>
              <a:rPr sz="1300">
                <a:solidFill>
                  <a:srgbClr val="1E293B"/>
                </a:solidFill>
              </a:rPr>
              <a:t>Federal Information Processing Standards Publication (FIPS PUB 180-4), U.S. Department of Commerce, 2015.</a:t>
            </a:r>
          </a:p>
          <a:p>
            <a:pPr>
              <a:spcAft>
                <a:spcPts val="1400"/>
              </a:spcAft>
            </a:pPr>
            <a:r>
              <a:rPr b="1" sz="1300">
                <a:solidFill>
                  <a:srgbClr val="B91C1C"/>
                </a:solidFill>
              </a:rPr>
              <a:t>[4] World Health Organization (WHO), </a:t>
            </a:r>
            <a:r>
              <a:rPr i="1" sz="1300">
                <a:solidFill>
                  <a:srgbClr val="0B1220"/>
                </a:solidFill>
              </a:rPr>
              <a:t>"Substandard and Falsified Medical Products: Surveillance &amp; Monitoring Global Report", </a:t>
            </a:r>
            <a:r>
              <a:rPr sz="1300">
                <a:solidFill>
                  <a:srgbClr val="1E293B"/>
                </a:solidFill>
              </a:rPr>
              <a:t>WHO Technical Report Series, Geneva, Switzerland, 2020.</a:t>
            </a:r>
          </a:p>
          <a:p>
            <a:pPr>
              <a:spcAft>
                <a:spcPts val="1400"/>
              </a:spcAft>
            </a:pPr>
            <a:r>
              <a:rPr b="1" sz="1300">
                <a:solidFill>
                  <a:srgbClr val="B91C1C"/>
                </a:solidFill>
              </a:rPr>
              <a:t>[5] Vercel Engineering &amp; React Core Team, </a:t>
            </a:r>
            <a:r>
              <a:rPr i="1" sz="1300">
                <a:solidFill>
                  <a:srgbClr val="0B1220"/>
                </a:solidFill>
              </a:rPr>
              <a:t>"Next.js 14 Architecture: Server Components, Turbopack Bundling, and Serverless Edge Routes", </a:t>
            </a:r>
            <a:r>
              <a:rPr sz="1300">
                <a:solidFill>
                  <a:srgbClr val="1E293B"/>
                </a:solidFill>
              </a:rPr>
              <a:t>Technical Documentation, 2024. [Online]. Available: https://nextjs.org/docs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371600" y="1097280"/>
            <a:ext cx="9448495" cy="4663440"/>
          </a:xfrm>
          <a:prstGeom prst="roundRect">
            <a:avLst/>
          </a:prstGeom>
          <a:solidFill>
            <a:srgbClr val="F8FAFC"/>
          </a:solidFill>
          <a:ln w="2540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lIns="457200" tIns="457200" rIns="457200" bIns="457200"/>
          <a:lstStyle/>
          <a:p>
            <a:pPr algn="ctr">
              <a:defRPr sz="4800" b="1">
                <a:solidFill>
                  <a:srgbClr val="B91C1C"/>
                </a:solidFill>
              </a:defRPr>
            </a:pPr>
            <a:r>
              <a:t>THANK YOU!</a:t>
            </a:r>
          </a:p>
          <a:p>
            <a:pPr algn="ctr">
              <a:defRPr sz="2200" b="1">
                <a:solidFill>
                  <a:srgbClr val="0B1220"/>
                </a:solidFill>
              </a:defRPr>
            </a:pPr>
            <a:r>
              <a:t>TrueTrace: Decentralized Anti-Counterfeit Platform</a:t>
            </a:r>
          </a:p>
          <a:p>
            <a:pPr algn="ctr">
              <a:defRPr sz="1400">
                <a:solidFill>
                  <a:srgbClr val="475569"/>
                </a:solidFill>
              </a:defRPr>
            </a:pPr>
            <a:r>
              <a:t>Department of Information Engineering and Computational Technology (IE&amp;CT)</a:t>
            </a:r>
            <a:br/>
            <a:r>
              <a:t>Maharaj Vijayaram Gajapathi Raj College of Engineering (Autonomous), Vizianagaram</a:t>
            </a:r>
          </a:p>
          <a:p>
            <a:pPr algn="ctr">
              <a:defRPr sz="1600" b="1">
                <a:solidFill>
                  <a:srgbClr val="0E7490"/>
                </a:solidFill>
              </a:defRPr>
            </a:pPr>
            <a:br/>
            <a:r>
              <a:t>Ready for Questions &amp; Live System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